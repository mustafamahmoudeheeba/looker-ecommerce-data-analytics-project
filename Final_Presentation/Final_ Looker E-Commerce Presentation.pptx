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0" r:id="rId10"/>
    <p:sldId id="271" r:id="rId11"/>
    <p:sldId id="265" r:id="rId12"/>
    <p:sldId id="263" r:id="rId13"/>
    <p:sldId id="264" r:id="rId14"/>
    <p:sldId id="266" r:id="rId15"/>
    <p:sldId id="267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tafa Mahmoud Mohammed Awad" userId="d0c35824e03b1e95" providerId="LiveId" clId="{476762D6-C4C2-4A62-A5A0-F3B7B6FEF7A5}"/>
    <pc:docChg chg="custSel modSld">
      <pc:chgData name="Mustafa Mahmoud Mohammed Awad" userId="d0c35824e03b1e95" providerId="LiveId" clId="{476762D6-C4C2-4A62-A5A0-F3B7B6FEF7A5}" dt="2026-02-12T00:08:23.898" v="14" actId="113"/>
      <pc:docMkLst>
        <pc:docMk/>
      </pc:docMkLst>
      <pc:sldChg chg="modSp mod">
        <pc:chgData name="Mustafa Mahmoud Mohammed Awad" userId="d0c35824e03b1e95" providerId="LiveId" clId="{476762D6-C4C2-4A62-A5A0-F3B7B6FEF7A5}" dt="2026-02-12T00:08:23.898" v="14" actId="113"/>
        <pc:sldMkLst>
          <pc:docMk/>
          <pc:sldMk cId="0" sldId="256"/>
        </pc:sldMkLst>
        <pc:spChg chg="mod">
          <ac:chgData name="Mustafa Mahmoud Mohammed Awad" userId="d0c35824e03b1e95" providerId="LiveId" clId="{476762D6-C4C2-4A62-A5A0-F3B7B6FEF7A5}" dt="2026-02-12T00:08:23.898" v="14" actId="113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Mustafa Mahmoud Mohammed Awad" userId="d0c35824e03b1e95" providerId="LiveId" clId="{476762D6-C4C2-4A62-A5A0-F3B7B6FEF7A5}" dt="2026-02-12T00:06:25.884" v="0" actId="14100"/>
        <pc:sldMkLst>
          <pc:docMk/>
          <pc:sldMk cId="0" sldId="258"/>
        </pc:sldMkLst>
        <pc:spChg chg="mod">
          <ac:chgData name="Mustafa Mahmoud Mohammed Awad" userId="d0c35824e03b1e95" providerId="LiveId" clId="{476762D6-C4C2-4A62-A5A0-F3B7B6FEF7A5}" dt="2026-02-12T00:06:25.884" v="0" actId="14100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Mustafa Mahmoud Mohammed Awad" userId="d0c35824e03b1e95" providerId="LiveId" clId="{476762D6-C4C2-4A62-A5A0-F3B7B6FEF7A5}" dt="2026-02-12T00:07:54.868" v="12" actId="1076"/>
        <pc:sldMkLst>
          <pc:docMk/>
          <pc:sldMk cId="317809409" sldId="270"/>
        </pc:sldMkLst>
        <pc:picChg chg="add mod">
          <ac:chgData name="Mustafa Mahmoud Mohammed Awad" userId="d0c35824e03b1e95" providerId="LiveId" clId="{476762D6-C4C2-4A62-A5A0-F3B7B6FEF7A5}" dt="2026-02-12T00:07:54.868" v="12" actId="1076"/>
          <ac:picMkLst>
            <pc:docMk/>
            <pc:sldMk cId="317809409" sldId="270"/>
            <ac:picMk id="4" creationId="{E87FCE14-A5C2-FFE4-59FF-5C246E463541}"/>
          </ac:picMkLst>
        </pc:picChg>
        <pc:picChg chg="del">
          <ac:chgData name="Mustafa Mahmoud Mohammed Awad" userId="d0c35824e03b1e95" providerId="LiveId" clId="{476762D6-C4C2-4A62-A5A0-F3B7B6FEF7A5}" dt="2026-02-12T00:06:53.807" v="1" actId="478"/>
          <ac:picMkLst>
            <pc:docMk/>
            <pc:sldMk cId="317809409" sldId="270"/>
            <ac:picMk id="13" creationId="{0D99D4A6-58CC-AAA7-A403-4792903D71A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923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67E5B-6A6C-720D-B05F-7409C9E3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A327E-697D-2E97-930C-DE152E545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A80FE-8916-3AF0-F042-3BFB77999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EEB48-598C-50CF-E23C-A50EFBE87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2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17DB-6905-4E7F-7D05-42F796F2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C8A17-48FA-11A4-C90D-A8DA753F7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08004-54E0-B6BF-D63E-D05CF3EA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4FB13-B1CC-F9AD-9759-108101C82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53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C14EF-A0EC-1843-C5B7-EE79AB2A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293A9-16C9-0D0B-6955-E70B5C281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CE9D2-CAFC-AF82-1867-19D2ACB1F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F62D-2DBF-DD38-22CF-4B122C73C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3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ustafakeser4/looker-ecommerce-bigquery-datase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Looker Ecommerce Data Warehouse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506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A896"/>
                </a:solidFill>
              </a:rPr>
              <a:t>Business Insights Using SQL Data Warehouse &amp; Power BI</a:t>
            </a:r>
            <a:br>
              <a:rPr lang="en-US" sz="2400" dirty="0">
                <a:solidFill>
                  <a:srgbClr val="00A896"/>
                </a:solidFill>
              </a:rPr>
            </a:br>
            <a:endParaRPr lang="en-US" sz="2400" dirty="0">
              <a:solidFill>
                <a:schemeClr val="accent4"/>
              </a:solidFill>
            </a:endParaRP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115994" y="2708031"/>
            <a:ext cx="27432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Solution </a:t>
            </a:r>
            <a:b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F2F2F2"/>
                </a:solidFill>
              </a:rPr>
              <a:t>February 2026</a:t>
            </a:r>
            <a:br>
              <a:rPr lang="en-US" sz="1400" dirty="0">
                <a:solidFill>
                  <a:srgbClr val="F2F2F2"/>
                </a:solidFill>
              </a:rPr>
            </a:br>
            <a:r>
              <a:rPr lang="en-US" sz="1400" b="1" i="1" dirty="0">
                <a:solidFill>
                  <a:srgbClr val="F2F2F2"/>
                </a:solidFill>
              </a:rPr>
              <a:t>Mustafa Mahmoud Mohamed</a:t>
            </a:r>
            <a:endParaRPr lang="en-US" sz="16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Project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Objective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3636"/>
                </a:solidFill>
              </a:rPr>
              <a:t>To analyze e-commerce sales data, identify business problems, and provide actionable insights through a comprehensive data warehouse and interactive Power BI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Scope &amp; Tools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Raw e-commerce data (7 tables, 100K+ records) • SQL Server for ETL &amp; DWH • Power BI for visualization • Medallion Architecture (Bronze/Silver/Gold) • Galaxy Schema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Project Workflow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11887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4023360"/>
            <a:ext cx="457200" cy="182880"/>
          </a:xfrm>
          <a:prstGeom prst="rightArrow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0" y="3886200"/>
            <a:ext cx="1188720" cy="4572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74320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4023360"/>
            <a:ext cx="457200" cy="182880"/>
          </a:xfrm>
          <a:prstGeom prst="rightArrow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572000" y="3886200"/>
            <a:ext cx="1188720" cy="4572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DWH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4023360"/>
            <a:ext cx="457200" cy="182880"/>
          </a:xfrm>
          <a:prstGeom prst="rightArrow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1188720" cy="45720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4023360"/>
            <a:ext cx="457200" cy="182880"/>
          </a:xfrm>
          <a:prstGeom prst="rightArrow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2296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Business Problem &amp; Key Questions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Why This Project Matters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63636"/>
                </a:solidFill>
              </a:rPr>
              <a:t>E-commerce success depends on understanding customer behavior, optimizing product mix, and identifying profitable markets. This project transforms raw transactional data into strategic intelligence.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26517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Sales &amp; Revenue Questions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What is the annual profitability trend (2020-2024)?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How are sales distributed across price ranges?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Which countries generate highest revenue?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Which brands have the highest sales volume?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What is the monthly profit distribution?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931920" cy="26517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Customer &amp; Marketing Questions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What is the customer conversion rate?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Which traffic sources are most effective?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What is the demographic distribution?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Which browsers are most commonly used?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What percentage never completed a purchase?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Data Collection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14800" cy="201168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Data Sources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4416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E2761"/>
                </a:solidFill>
              </a:rPr>
              <a:t>Kaggle</a:t>
            </a:r>
            <a:endParaRPr lang="en-US" sz="1300" dirty="0"/>
          </a:p>
          <a:p>
            <a:r>
              <a:rPr lang="en-GB" sz="1100" dirty="0">
                <a:hlinkClick r:id="rId3"/>
              </a:rPr>
              <a:t>Looker Ecommerce </a:t>
            </a:r>
            <a:r>
              <a:rPr lang="en-GB" sz="1100" dirty="0" err="1">
                <a:hlinkClick r:id="rId3"/>
              </a:rPr>
              <a:t>BigQuery</a:t>
            </a:r>
            <a:r>
              <a:rPr lang="en-GB" sz="1100" dirty="0">
                <a:hlinkClick r:id="rId3"/>
              </a:rPr>
              <a:t> Dataset</a:t>
            </a:r>
            <a:br>
              <a:rPr lang="en-GB" sz="1100" dirty="0"/>
            </a:b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7 Core Tables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users, orders, order_items, products,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inventory_items, events, distribution_centers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Volume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84,000+ customers, 100,000+ events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Data Characteristics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554480"/>
          <a:ext cx="3566160" cy="1386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Total Customers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84,000+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Countries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Cities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2,900+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Time Period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2019-2024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Events Tracked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100,000+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152922"/>
            <a:ext cx="8229600" cy="155448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2F2F"/>
                </a:solidFill>
              </a:rPr>
              <a:t>Data Quality Challenges Identified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3636"/>
                </a:solidFill>
              </a:rPr>
              <a:t>Missing Values: </a:t>
            </a:r>
            <a:r>
              <a:rPr lang="en-US" sz="1100" dirty="0">
                <a:solidFill>
                  <a:srgbClr val="363636"/>
                </a:solidFill>
              </a:rPr>
              <a:t>NULL user_ids (13K+ rows), NULL product names/brands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63636"/>
                </a:solidFill>
              </a:rPr>
              <a:t>Duplicates: </a:t>
            </a:r>
            <a:r>
              <a:rPr lang="en-US" sz="1100" dirty="0">
                <a:solidFill>
                  <a:srgbClr val="363636"/>
                </a:solidFill>
              </a:rPr>
              <a:t>Duplicate users (same email+name), duplicate event sequences per IP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63636"/>
                </a:solidFill>
              </a:rPr>
              <a:t>Inconsistencies: </a:t>
            </a:r>
            <a:r>
              <a:rPr lang="en-US" sz="1100" dirty="0">
                <a:solidFill>
                  <a:srgbClr val="363636"/>
                </a:solidFill>
              </a:rPr>
              <a:t>Mixed data types (float IDs), non-standard values (M/F), string dates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63636"/>
                </a:solidFill>
              </a:rPr>
              <a:t>Business Rule Issues: </a:t>
            </a:r>
            <a:r>
              <a:rPr lang="en-US" sz="1100" dirty="0">
                <a:solidFill>
                  <a:srgbClr val="363636"/>
                </a:solidFill>
              </a:rPr>
              <a:t>Multiple order statuses (Processing, Cancelled, Shipped) requiring filtering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Exploratory Data Analysis (EDA)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63636"/>
                </a:solidFill>
              </a:rPr>
              <a:t>Systematic investigation to identify data quality issues and patterns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32918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EDA Methodology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 Schema Inspection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   sp_help for structure, data type validation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 NULL Analysis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   Count NULLs per column, identify critical gaps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 Duplicate Detection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   GROUP BY + HAVING, business key analysis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 Distribution Analysis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   Distinct counts, statistical summaries (MIN, MAX, AVG)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 Relationship Validation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   Foreign key integrity, orphaned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</a:rPr>
              <a:t>Top EDA Insights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Age Distribution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Average customer age: 40-50 years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Gender Split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Nearly equal Male/Female distribution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 Geographic Coverage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74 countries, 2,900+ cities worldwide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 Product Categories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Multiple brands &amp; departments identified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 Data Quality Score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15% of records require cleaning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Data Warehouse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63636"/>
                </a:solidFill>
              </a:rPr>
              <a:t>3-Layer Medallion Architecture: Bronze → Silver → Gold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CD7F32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 BRONZE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Data Layer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Minimal transformation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SELECT INTO from source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Historical preservation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7 unClean_* tables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2743200"/>
            <a:ext cx="731520" cy="36576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931920" y="1371600"/>
            <a:ext cx="2560320" cy="3200400"/>
          </a:xfrm>
          <a:prstGeom prst="rect">
            <a:avLst/>
          </a:prstGeom>
          <a:solidFill>
            <a:srgbClr val="C0C0C0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93192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 SILVER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69080" y="2103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Cleaned Data Layer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Type standardization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Duplicate removal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NULL handling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Date parsing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Business rules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743200"/>
            <a:ext cx="731520" cy="365760"/>
          </a:xfrm>
          <a:prstGeom prst="rightArrow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406639" y="1371600"/>
            <a:ext cx="1512277" cy="3200400"/>
          </a:xfrm>
          <a:prstGeom prst="rect">
            <a:avLst/>
          </a:prstGeom>
          <a:solidFill>
            <a:srgbClr val="FFD700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40664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06640" y="1920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GOLD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171701"/>
            <a:ext cx="182176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  <a:p>
            <a:r>
              <a:rPr lang="en-US" sz="1050" b="1" dirty="0">
                <a:solidFill>
                  <a:srgbClr val="363636"/>
                </a:solidFill>
              </a:rPr>
              <a:t>Dims:</a:t>
            </a:r>
            <a:br>
              <a:rPr lang="ar-EG" sz="1200" b="1" dirty="0"/>
            </a:br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Dim_Date</a:t>
            </a:r>
            <a:endParaRPr lang="en-US" sz="1200" dirty="0"/>
          </a:p>
          <a:p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Dim_Product</a:t>
            </a:r>
            <a:endParaRPr lang="en-US" sz="1200" dirty="0"/>
          </a:p>
          <a:p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Dim_Customer</a:t>
            </a:r>
            <a:endParaRPr lang="en-US" sz="1200" dirty="0"/>
          </a:p>
          <a:p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Dim_Distribution_Center</a:t>
            </a:r>
            <a:endParaRPr lang="en-US" sz="1200" dirty="0"/>
          </a:p>
          <a:p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Dim_Browser</a:t>
            </a:r>
            <a:br>
              <a:rPr lang="ar-EG" sz="1000" dirty="0">
                <a:solidFill>
                  <a:srgbClr val="363636"/>
                </a:solidFill>
              </a:rPr>
            </a:br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Dim_Traffic_Source</a:t>
            </a:r>
            <a:br>
              <a:rPr lang="ar-EG" sz="1000" dirty="0">
                <a:solidFill>
                  <a:srgbClr val="363636"/>
                </a:solidFill>
              </a:rPr>
            </a:br>
            <a:endParaRPr lang="en-US" sz="1200" dirty="0"/>
          </a:p>
          <a:p>
            <a:pPr algn="ctr"/>
            <a:endParaRPr lang="en-US" sz="1200" dirty="0"/>
          </a:p>
          <a:p>
            <a:r>
              <a:rPr lang="en-US" sz="1050" b="1" dirty="0">
                <a:solidFill>
                  <a:srgbClr val="363636"/>
                </a:solidFill>
              </a:rPr>
              <a:t>Facts:</a:t>
            </a:r>
            <a:endParaRPr lang="en-US" sz="1200" dirty="0"/>
          </a:p>
          <a:p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Fact_Customer_Journey</a:t>
            </a:r>
            <a:endParaRPr lang="en-US" sz="1200" dirty="0"/>
          </a:p>
          <a:p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Fact_Inventory</a:t>
            </a:r>
            <a:endParaRPr lang="en-US" sz="1200" dirty="0"/>
          </a:p>
          <a:p>
            <a:r>
              <a:rPr lang="en-US" sz="1000" dirty="0">
                <a:solidFill>
                  <a:srgbClr val="363636"/>
                </a:solidFill>
              </a:rPr>
              <a:t>• </a:t>
            </a:r>
            <a:r>
              <a:rPr lang="en-US" sz="1000" dirty="0" err="1">
                <a:solidFill>
                  <a:srgbClr val="363636"/>
                </a:solidFill>
              </a:rPr>
              <a:t>Fact_Sales</a:t>
            </a:r>
            <a:endParaRPr lang="en-US" sz="12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4F843-BE58-622C-8ECE-BB5EF6955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6885E6-D7BC-9070-7DC6-9C4B66B898F7}"/>
              </a:ext>
            </a:extLst>
          </p:cNvPr>
          <p:cNvSpPr/>
          <p:nvPr/>
        </p:nvSpPr>
        <p:spPr>
          <a:xfrm>
            <a:off x="211015" y="-54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Galaxy schema Design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3DF841-6D6F-CB2F-6A86-28E8F0437449}"/>
              </a:ext>
            </a:extLst>
          </p:cNvPr>
          <p:cNvSpPr/>
          <p:nvPr/>
        </p:nvSpPr>
        <p:spPr>
          <a:xfrm>
            <a:off x="457200" y="1508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 BRONZE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D731CD-650D-3612-91EF-D5C470091110}"/>
              </a:ext>
            </a:extLst>
          </p:cNvPr>
          <p:cNvSpPr/>
          <p:nvPr/>
        </p:nvSpPr>
        <p:spPr>
          <a:xfrm>
            <a:off x="594360" y="21031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Data Layer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Minimal transformation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SELECT INTO from source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Historical preservation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• 7 unClean_* tables</a:t>
            </a:r>
            <a:endParaRPr lang="en-US" sz="1300" dirty="0"/>
          </a:p>
        </p:txBody>
      </p:sp>
      <p:pic>
        <p:nvPicPr>
          <p:cNvPr id="19" name="Picture 18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626F4888-351B-CE5C-1086-F07D62F6C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95" y="494128"/>
            <a:ext cx="7233600" cy="446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7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ETL Process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63636"/>
                </a:solidFill>
              </a:rPr>
              <a:t>Extraction → Cleaning → Transformation → Loading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371600" cy="64008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testData DB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600200"/>
            <a:ext cx="548640" cy="182880"/>
          </a:xfrm>
          <a:prstGeom prst="rightArrow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108960" y="1371600"/>
            <a:ext cx="1371600" cy="640080"/>
          </a:xfrm>
          <a:prstGeom prst="rect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10896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Remove junk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600200"/>
            <a:ext cx="548640" cy="182880"/>
          </a:xfrm>
          <a:prstGeom prst="rightArrow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1371600" cy="640080"/>
          </a:xfrm>
          <a:prstGeom prst="rect">
            <a:avLst/>
          </a:prstGeom>
          <a:solidFill>
            <a:srgbClr val="FFD70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0" y="1508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TRANSFORM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</a:rPr>
              <a:t>Galaxy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600200"/>
            <a:ext cx="548640" cy="182880"/>
          </a:xfrm>
          <a:prstGeom prst="rightArrow">
            <a:avLst/>
          </a:prstGeom>
          <a:solidFill>
            <a:srgbClr val="36363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498080" y="1371600"/>
            <a:ext cx="1188720" cy="640080"/>
          </a:xfrm>
          <a:prstGeom prst="rect">
            <a:avLst/>
          </a:prstGeom>
          <a:solidFill>
            <a:srgbClr val="2E7D3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98080" y="1508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Gold layer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Implementation Details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Automation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T-SQL Stored Procedures: tables_Bronze, tables_creation, Load_data, Goald_tables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Automated schema creation and data population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Data Transformation Techniques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CAST(CAST(id AS FLOAT) AS INT) for type conversion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ROW_NUMBER() OVER (PARTITION BY...) for deduplication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SUBSTRING() for date component extraction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Business logic: net_profit = retail_price - cost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176D48-B4BD-41AD-A7F9-87EEA863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561330-E50B-B9E1-8D75-FFFEA879C23E}"/>
              </a:ext>
            </a:extLst>
          </p:cNvPr>
          <p:cNvSpPr/>
          <p:nvPr/>
        </p:nvSpPr>
        <p:spPr>
          <a:xfrm>
            <a:off x="218049" y="-633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Power BI Dashboard Design</a:t>
            </a:r>
            <a:endParaRPr lang="en-US" sz="2000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E87FCE14-A5C2-FFE4-59FF-5C246E463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9" y="382098"/>
            <a:ext cx="8260870" cy="455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9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46CA0-1AB6-6ACA-0917-AAD6330C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18C2C5-4678-8256-66F8-0D54366B8857}"/>
              </a:ext>
            </a:extLst>
          </p:cNvPr>
          <p:cNvSpPr/>
          <p:nvPr/>
        </p:nvSpPr>
        <p:spPr>
          <a:xfrm>
            <a:off x="218049" y="-633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Power BI Dashboard Design</a:t>
            </a:r>
            <a:endParaRPr lang="en-US" sz="2000" dirty="0"/>
          </a:p>
        </p:txBody>
      </p:sp>
      <p:pic>
        <p:nvPicPr>
          <p:cNvPr id="6" name="Picture 5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053FBD14-F3B5-0CB7-F31A-FF1FBFCBB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99" y="374723"/>
            <a:ext cx="8349175" cy="466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68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Power BI Dashboard Design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Dashboard Structure &amp;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0843" y="1645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Navigation &amp; Filters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Slicers for Category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Visual Selection Rationale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Bar charts for rankings • Line charts for trends • KPI cards for key metrics • Tables for detailed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114800" cy="21945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Sales &amp; Revenue Page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KPIs: Quantity, Profit, Revenue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Visuals: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Line chart: Profitability trend (2019-2024)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Histogram: Sales by price range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Bar chart: Top countries by revenue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Bar chart: Profit by brand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Table: Top 5 brands by quantity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3931920" cy="21945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93776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Customer Insights Page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KPIs: Total, Profit, Revenue, Conversion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Visuals: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Bar chart: Top countries by customer count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Bar chart: Average age by country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Donut chart: Gender distribution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Table: Traffic source effectiveness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Table: Browser usage statistics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Data Analysis &amp; Key Insights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63636"/>
                </a:solidFill>
              </a:rPr>
              <a:t>Answering business questions using Gold layer in Power BI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 Annual Profitability Trend (2020-2024)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Visualization: Line chart showing yearly profit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737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Insight: Steady growth 2019-2022, peak in 2022-2023, decline in 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Action: Investigate 2024 decline - analyze costs, pricing, competition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105156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 Sales Distribution by Price Range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Visualization: Histogram/bar chart of price brackets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Insight: Most sales in $0-$100 range, peak at $50-$75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Action: Focus inventory on sweet spot, introduce premium products strategically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 Top Revenue Countries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63636"/>
                </a:solidFill>
              </a:rPr>
              <a:t>Visualization: Bar chart of countries by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1148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</a:rPr>
              <a:t>Insight: China ($30K+), United States, South Korea lead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Action: Prioritize these markets for marketing spend &amp;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Customer &amp; Marketing Insights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777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</a:rPr>
              <a:t>$1.66M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3636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005840"/>
            <a:ext cx="1554480" cy="777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14884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$3.19M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48840" y="1508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3636"/>
                </a:solidFill>
              </a:rPr>
              <a:t>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005840"/>
            <a:ext cx="1554480" cy="777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84048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63636"/>
                </a:solidFill>
              </a:rPr>
              <a:t>84K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1508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3636"/>
                </a:solidFill>
              </a:rPr>
              <a:t>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1005840"/>
            <a:ext cx="1554480" cy="777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53212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D32"/>
                </a:solidFill>
              </a:rPr>
              <a:t>77%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32120" y="15087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3636"/>
                </a:solidFill>
              </a:rPr>
              <a:t>Conversion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1005840"/>
            <a:ext cx="1828800" cy="77724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22376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</a:rPr>
              <a:t>70%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2376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63636"/>
                </a:solidFill>
              </a:rPr>
              <a:t>From 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4114800" cy="31318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Customer Analysis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3809" y="28575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</a:rPr>
              <a:t>Conversion Rate: 77% (65K/84K)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19K registered but never purchased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Demographics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Nearly equal gender split (48% F / 52% M)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Average age: 40-50 years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China leads in customer count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Traffic Sources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Search: 736K (70%)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Organic, Facebook, Email follow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Browser Usage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• Chrome, Firefox, IE (top 3)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011680"/>
            <a:ext cx="3931920" cy="301752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9377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 Strategic Actions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53354" y="2864534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1. Re-engage Non-Purchasers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Target 19K inactive users with personalized campaigns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2. Optimize Search Marketing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70% traffic from search - double down on SEO/SEM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3. Geographic Focus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Prioritize China, US, Brazil markets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4. Browser Compatibility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Ensure optimal experience on Chrome, Firefox, IE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5. Brand Strategy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3636"/>
                </a:solidFill>
              </a:rPr>
              <a:t>Strengthen partnerships with top performers (Speedo, Quiksilve, O'Neill)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Challenges &amp; Solutions</a:t>
            </a:r>
            <a:endParaRPr lang="en-US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5661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13K+ NULL user_ids in events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DELETE rows + ALTER COLUMN to NOT NULL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Clean event data with referential integrity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Duplicate users (email + name)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ROW_NUMBER() window function deduplication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Unique customer base for analysis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Float IDs requiring integer conversion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CAST(CAST(id AS FLOAT) AS INT)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Proper data types for FK relationships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String timestamps needing parsing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SUBSTRING + date component extraction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Date parts for time-based analysis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Mixed order statuses (incomplete)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Keep only Completed &amp; Returned statuses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Accurate sales &amp; return metrics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profit calculation available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ADD net_profit = retail_price - cost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Profitability analysis enabled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Complex dimensional model design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Galaxy schema with shared dimensions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Flexible multi-fact analysis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Dashboard clarity &amp; usability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Interactive slicers, clear KPIs, intuitive layout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User-friendly self-service BI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36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Summary &amp; 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Project Accomplishments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Comprehensive EDA performed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3-layer DWH implemented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Galaxy schema with 3 facts created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13K+ records cleaned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Power BI dashboards built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Actionable insights delivered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Key Business Insights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77% conversion rate achieved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19K re-engagement opportunity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Search drives 70% of traffic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$50-$75 price sweet spot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2024 decline needs investigation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3636"/>
                </a:solidFill>
              </a:rPr>
              <a:t>• Focus on China, US, Brazil markets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Tools &amp; Skills Demonstrated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3636"/>
                </a:solidFill>
              </a:rPr>
              <a:t>Technical Skills: </a:t>
            </a:r>
            <a:r>
              <a:rPr lang="en-US" sz="1200" dirty="0">
                <a:solidFill>
                  <a:srgbClr val="363636"/>
                </a:solidFill>
              </a:rPr>
              <a:t>SQL Server • T-SQL • Stored Procedures • Window Functions • Data Modeling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63636"/>
                </a:solidFill>
              </a:rPr>
              <a:t>Analytical Skills: </a:t>
            </a:r>
            <a:r>
              <a:rPr lang="en-US" sz="1200" dirty="0">
                <a:solidFill>
                  <a:srgbClr val="363636"/>
                </a:solidFill>
              </a:rPr>
              <a:t>EDA • Data Cleaning • ETL Design • Galaxy Schema • Business Intelligence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63636"/>
                </a:solidFill>
              </a:rPr>
              <a:t>Visualization: </a:t>
            </a:r>
            <a:r>
              <a:rPr lang="en-US" sz="1200" dirty="0">
                <a:solidFill>
                  <a:srgbClr val="363636"/>
                </a:solidFill>
              </a:rPr>
              <a:t>Power BI • Dashboard Design • KPI Development • Interactive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678451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2F2F2"/>
                </a:solidFill>
              </a:rPr>
              <a:t>Thank you for your attention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1442</Words>
  <Application>Microsoft Office PowerPoint</Application>
  <PresentationFormat>On-screen Show (16:9)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Data Warehouse &amp; Business Intelligence Project</dc:title>
  <dc:subject>PptxGenJS Presentation</dc:subject>
  <dc:creator>Data Engineering Team</dc:creator>
  <cp:lastModifiedBy>Mustafa Mahmoud Mohammed Awad</cp:lastModifiedBy>
  <cp:revision>3</cp:revision>
  <dcterms:created xsi:type="dcterms:W3CDTF">2026-02-11T22:24:28Z</dcterms:created>
  <dcterms:modified xsi:type="dcterms:W3CDTF">2026-02-12T12:18:35Z</dcterms:modified>
</cp:coreProperties>
</file>